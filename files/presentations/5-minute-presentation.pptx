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Roboto"/>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bold.fntdata"/><Relationship Id="rId16" Type="http://schemas.openxmlformats.org/officeDocument/2006/relationships/font" Target="fonts/Roboto-regular.fntdata"/><Relationship Id="rId5" Type="http://schemas.openxmlformats.org/officeDocument/2006/relationships/notesMaster" Target="notesMasters/notesMaster1.xml"/><Relationship Id="rId19" Type="http://schemas.openxmlformats.org/officeDocument/2006/relationships/font" Target="fonts/Roboto-boldItalic.fntdata"/><Relationship Id="rId6" Type="http://schemas.openxmlformats.org/officeDocument/2006/relationships/slide" Target="slides/slide1.xml"/><Relationship Id="rId18" Type="http://schemas.openxmlformats.org/officeDocument/2006/relationships/font" Target="fonts/Roboto-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1"/>
                </a:solidFill>
              </a:rPr>
              <a:t>Hello! My name is Farhan, and my presentation today is about how I built my website project for the Technology in Arts Management course. I chose this topic because it was the most significant thing I made and worked on for the course, and it also changed a lot over time as I added more pages and made improvements. So I thought it would be a fitting and natural thing to talk about.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dd09818a18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dd09818a18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1"/>
                </a:solidFill>
              </a:rPr>
              <a:t>This project is a course website that I built to organize different kinds of material and information in one place. It was designed in the style of a theatre production or project hub, so it could hold things like assignments, project pages, forms, downloads, and protected documents in a clear and simple way. Over time, it became more than a basic homepage and started functioning as a fuller course project site.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dd09818a18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dd09818a18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1"/>
                </a:solidFill>
              </a:rPr>
              <a:t>The main goal of the website was to keep everything in one place and make things easier to access. I wanted the important parts of the site to be easy to find, especially things like announcements, assignments, project files, and shared resources. I also wanted the site to have a clear structure so it felt organized and not messy or scattered.</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dd09818a18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dd09818a18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1"/>
                </a:solidFill>
              </a:rPr>
              <a:t>The homepage includes the main features of the site. There is an announcements section so updates are visible right away, and there's also a calendar section for scheduling information. I added a biography submission form, a management contact form, a contact sheet, downloadable forms, and a protected documents section. The goal was for the homepage to bring the most important parts of the site together in one place.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dd09818a18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dd09818a18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1"/>
                </a:solidFill>
              </a:rPr>
              <a:t>An important part of the site was including both protected and shared content. The protected section uses a password and gives access to documents like meeting notes, reports, and archive material. I used Google Drive for linked files and for the creative archive folder that is embedded directly into the site. For the public content, I included downloadable forms that anyone can access from the homepage.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dd09818a18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dd09818a18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1"/>
                </a:solidFill>
              </a:rPr>
              <a:t>Rather than use a website builder, I built the site with code using HTML, CSS, and JavaScript. I also used Google Drive and Google Calendar for the embedded and linked content on the site. To host the site I used Netlify, which allowed me publish the site online for free. I also stored the code in a GitHub repository and connected that to Netlify, so whenever I push updates to the code repository, the latest version of the site gets deployed automatically.</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dd09818a18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dd09818a18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1"/>
                </a:solidFill>
              </a:rPr>
              <a:t>For the design, I wanted something simple and easy to read. I used a clear navigation bar and separated the homepage into sections so users can easily move through the site. I also used a soft color palette and card-style layout to keep the page looking clean. Another important part was making the layout responsive so it still works properly on smaller screens.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dd09818a18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dd09818a18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1"/>
                </a:solidFill>
              </a:rPr>
              <a:t>An improvement I later made was adding a Course Work section to the homepage. Before that, the module and project pages were only accessible through their direct links, which was not very convenient. Adding this section made the site easier to use because now those pages can be reached directly from the main page, making the site feel more complete.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dd09818a18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dd09818a18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1"/>
                </a:solidFill>
              </a:rPr>
              <a:t>One challenge I had was organizing a lot of different sections without making the homepage feel crowded. I also had to make sure the links, embedded folders, and calendar worked properly once everything was connected. Another part of the process was improving the navigation as the site grew. Overall, I learned a lot about structure, usability, and how small design changes can make a website easier to use.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dd09818a18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dd09818a18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1"/>
                </a:solidFill>
              </a:rPr>
              <a:t>Overall, this project helped me create a course website that's functional, organized, and easy to use. It gave me one place to keep assignments, project pages, resources, and shared files together. Throughout the course, I made changes that helped the site feel clearer and easier to navigate. In the end, it turned into a strong course website that brings my work together in one place.</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3"/>
          <p:cNvSpPr txBox="1"/>
          <p:nvPr>
            <p:ph type="ctrTitle"/>
          </p:nvPr>
        </p:nvSpPr>
        <p:spPr>
          <a:xfrm>
            <a:off x="390525" y="1819275"/>
            <a:ext cx="8222100" cy="933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GB"/>
              <a:t>How I Built My Course Website</a:t>
            </a:r>
            <a:endParaRPr/>
          </a:p>
        </p:txBody>
      </p:sp>
      <p:sp>
        <p:nvSpPr>
          <p:cNvPr id="68" name="Google Shape;68;p13"/>
          <p:cNvSpPr txBox="1"/>
          <p:nvPr>
            <p:ph idx="1" type="subTitle"/>
          </p:nvPr>
        </p:nvSpPr>
        <p:spPr>
          <a:xfrm>
            <a:off x="390525" y="2789125"/>
            <a:ext cx="8222100" cy="1957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THEA 3135 - </a:t>
            </a:r>
            <a:r>
              <a:rPr lang="en-GB"/>
              <a:t>Technology in Arts Management</a:t>
            </a:r>
            <a:endParaRPr/>
          </a:p>
          <a:p>
            <a:pPr indent="0" lvl="0" marL="0" rtl="0" algn="l">
              <a:spcBef>
                <a:spcPts val="0"/>
              </a:spcBef>
              <a:spcAft>
                <a:spcPts val="0"/>
              </a:spcAft>
              <a:buNone/>
            </a:pPr>
            <a:r>
              <a:rPr lang="en-GB"/>
              <a:t>5 Minute Presentation Project</a:t>
            </a:r>
            <a:endParaRPr/>
          </a:p>
          <a:p>
            <a:pPr indent="0" lvl="0" marL="0" rtl="0" algn="l">
              <a:spcBef>
                <a:spcPts val="0"/>
              </a:spcBef>
              <a:spcAft>
                <a:spcPts val="0"/>
              </a:spcAft>
              <a:buNone/>
            </a:pPr>
            <a:r>
              <a:rPr lang="en-GB"/>
              <a:t>Farhan Ahmed</a:t>
            </a:r>
            <a:endParaRPr/>
          </a:p>
          <a:p>
            <a:pPr indent="0" lvl="0" marL="0" rtl="0" algn="l">
              <a:spcBef>
                <a:spcPts val="0"/>
              </a:spcBef>
              <a:spcAft>
                <a:spcPts val="0"/>
              </a:spcAft>
              <a:buNone/>
            </a:pPr>
            <a:r>
              <a:rPr lang="en-GB"/>
              <a:t>April 1, 2026</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Website: aurorastage.netlify.app</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Project Overview</a:t>
            </a:r>
            <a:endParaRPr/>
          </a:p>
        </p:txBody>
      </p:sp>
      <p:sp>
        <p:nvSpPr>
          <p:cNvPr id="74" name="Google Shape;74;p1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Char char="●"/>
            </a:pPr>
            <a:r>
              <a:rPr lang="en-GB"/>
              <a:t>Built as a central course website</a:t>
            </a:r>
            <a:endParaRPr/>
          </a:p>
          <a:p>
            <a:pPr indent="-342900" lvl="0" marL="457200" rtl="0" algn="l">
              <a:lnSpc>
                <a:spcPct val="150000"/>
              </a:lnSpc>
              <a:spcBef>
                <a:spcPts val="0"/>
              </a:spcBef>
              <a:spcAft>
                <a:spcPts val="0"/>
              </a:spcAft>
              <a:buSzPts val="1800"/>
              <a:buChar char="●"/>
            </a:pPr>
            <a:r>
              <a:rPr lang="en-GB"/>
              <a:t>Organizes assignments, projects, and resources</a:t>
            </a:r>
            <a:endParaRPr/>
          </a:p>
          <a:p>
            <a:pPr indent="-342900" lvl="0" marL="457200" rtl="0" algn="l">
              <a:lnSpc>
                <a:spcPct val="150000"/>
              </a:lnSpc>
              <a:spcBef>
                <a:spcPts val="0"/>
              </a:spcBef>
              <a:spcAft>
                <a:spcPts val="0"/>
              </a:spcAft>
              <a:buSzPts val="1800"/>
              <a:buChar char="●"/>
            </a:pPr>
            <a:r>
              <a:rPr lang="en-GB"/>
              <a:t>Includes forms, downloads, protected files, and linked pages</a:t>
            </a:r>
            <a:endParaRPr/>
          </a:p>
        </p:txBody>
      </p:sp>
      <p:pic>
        <p:nvPicPr>
          <p:cNvPr id="75" name="Google Shape;75;p14"/>
          <p:cNvPicPr preferRelativeResize="0"/>
          <p:nvPr/>
        </p:nvPicPr>
        <p:blipFill>
          <a:blip r:embed="rId3">
            <a:alphaModFix/>
          </a:blip>
          <a:stretch>
            <a:fillRect/>
          </a:stretch>
        </p:blipFill>
        <p:spPr>
          <a:xfrm>
            <a:off x="2350725" y="3139478"/>
            <a:ext cx="4442552" cy="19566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Purpose of the Website</a:t>
            </a:r>
            <a:endParaRPr/>
          </a:p>
        </p:txBody>
      </p:sp>
      <p:sp>
        <p:nvSpPr>
          <p:cNvPr id="81" name="Google Shape;81;p15"/>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Char char="●"/>
            </a:pPr>
            <a:r>
              <a:rPr lang="en-GB"/>
              <a:t>Keep course work in one place</a:t>
            </a:r>
            <a:endParaRPr/>
          </a:p>
          <a:p>
            <a:pPr indent="-342900" lvl="0" marL="457200" rtl="0" algn="l">
              <a:lnSpc>
                <a:spcPct val="150000"/>
              </a:lnSpc>
              <a:spcBef>
                <a:spcPts val="0"/>
              </a:spcBef>
              <a:spcAft>
                <a:spcPts val="0"/>
              </a:spcAft>
              <a:buSzPts val="1800"/>
              <a:buChar char="●"/>
            </a:pPr>
            <a:r>
              <a:rPr lang="en-GB"/>
              <a:t>Make important sections easy to access</a:t>
            </a:r>
            <a:endParaRPr/>
          </a:p>
          <a:p>
            <a:pPr indent="-342900" lvl="0" marL="457200" rtl="0" algn="l">
              <a:lnSpc>
                <a:spcPct val="150000"/>
              </a:lnSpc>
              <a:spcBef>
                <a:spcPts val="0"/>
              </a:spcBef>
              <a:spcAft>
                <a:spcPts val="0"/>
              </a:spcAft>
              <a:buSzPts val="1800"/>
              <a:buChar char="●"/>
            </a:pPr>
            <a:r>
              <a:rPr lang="en-GB"/>
              <a:t>Organize both public and protected content</a:t>
            </a:r>
            <a:endParaRPr/>
          </a:p>
          <a:p>
            <a:pPr indent="-342900" lvl="0" marL="457200" rtl="0" algn="l">
              <a:lnSpc>
                <a:spcPct val="150000"/>
              </a:lnSpc>
              <a:spcBef>
                <a:spcPts val="0"/>
              </a:spcBef>
              <a:spcAft>
                <a:spcPts val="0"/>
              </a:spcAft>
              <a:buSzPts val="1800"/>
              <a:buChar char="●"/>
            </a:pPr>
            <a:r>
              <a:rPr lang="en-GB"/>
              <a:t>Create a clean and usable layout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6"/>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Key Features on the Homepage</a:t>
            </a:r>
            <a:endParaRPr/>
          </a:p>
        </p:txBody>
      </p:sp>
      <p:sp>
        <p:nvSpPr>
          <p:cNvPr id="87" name="Google Shape;87;p16"/>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Char char="●"/>
            </a:pPr>
            <a:r>
              <a:rPr lang="en-GB"/>
              <a:t>Announcements</a:t>
            </a:r>
            <a:endParaRPr/>
          </a:p>
          <a:p>
            <a:pPr indent="-342900" lvl="0" marL="457200" rtl="0" algn="l">
              <a:lnSpc>
                <a:spcPct val="150000"/>
              </a:lnSpc>
              <a:spcBef>
                <a:spcPts val="0"/>
              </a:spcBef>
              <a:spcAft>
                <a:spcPts val="0"/>
              </a:spcAft>
              <a:buSzPts val="1800"/>
              <a:buChar char="●"/>
            </a:pPr>
            <a:r>
              <a:rPr lang="en-GB"/>
              <a:t>Calendar</a:t>
            </a:r>
            <a:endParaRPr/>
          </a:p>
          <a:p>
            <a:pPr indent="-342900" lvl="0" marL="457200" rtl="0" algn="l">
              <a:lnSpc>
                <a:spcPct val="150000"/>
              </a:lnSpc>
              <a:spcBef>
                <a:spcPts val="0"/>
              </a:spcBef>
              <a:spcAft>
                <a:spcPts val="0"/>
              </a:spcAft>
              <a:buSzPts val="1800"/>
              <a:buChar char="●"/>
            </a:pPr>
            <a:r>
              <a:rPr lang="en-GB"/>
              <a:t>Biography submission form</a:t>
            </a:r>
            <a:endParaRPr/>
          </a:p>
          <a:p>
            <a:pPr indent="-342900" lvl="0" marL="457200" rtl="0" algn="l">
              <a:lnSpc>
                <a:spcPct val="150000"/>
              </a:lnSpc>
              <a:spcBef>
                <a:spcPts val="0"/>
              </a:spcBef>
              <a:spcAft>
                <a:spcPts val="0"/>
              </a:spcAft>
              <a:buSzPts val="1800"/>
              <a:buChar char="●"/>
            </a:pPr>
            <a:r>
              <a:rPr lang="en-GB"/>
              <a:t>Management contact form</a:t>
            </a:r>
            <a:endParaRPr/>
          </a:p>
          <a:p>
            <a:pPr indent="-342900" lvl="0" marL="457200" rtl="0" algn="l">
              <a:lnSpc>
                <a:spcPct val="150000"/>
              </a:lnSpc>
              <a:spcBef>
                <a:spcPts val="0"/>
              </a:spcBef>
              <a:spcAft>
                <a:spcPts val="0"/>
              </a:spcAft>
              <a:buSzPts val="1800"/>
              <a:buChar char="●"/>
            </a:pPr>
            <a:r>
              <a:rPr lang="en-GB"/>
              <a:t>Contact sheet</a:t>
            </a:r>
            <a:endParaRPr/>
          </a:p>
          <a:p>
            <a:pPr indent="-342900" lvl="0" marL="457200" rtl="0" algn="l">
              <a:lnSpc>
                <a:spcPct val="150000"/>
              </a:lnSpc>
              <a:spcBef>
                <a:spcPts val="0"/>
              </a:spcBef>
              <a:spcAft>
                <a:spcPts val="0"/>
              </a:spcAft>
              <a:buSzPts val="1800"/>
              <a:buChar char="●"/>
            </a:pPr>
            <a:r>
              <a:rPr lang="en-GB"/>
              <a:t>Downloads and protected documents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7"/>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Protected and Shared Content</a:t>
            </a:r>
            <a:endParaRPr/>
          </a:p>
        </p:txBody>
      </p:sp>
      <p:sp>
        <p:nvSpPr>
          <p:cNvPr id="93" name="Google Shape;93;p17"/>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Char char="●"/>
            </a:pPr>
            <a:r>
              <a:rPr lang="en-GB"/>
              <a:t>Password-protected production documents</a:t>
            </a:r>
            <a:endParaRPr/>
          </a:p>
          <a:p>
            <a:pPr indent="-342900" lvl="0" marL="457200" rtl="0" algn="l">
              <a:lnSpc>
                <a:spcPct val="150000"/>
              </a:lnSpc>
              <a:spcBef>
                <a:spcPts val="0"/>
              </a:spcBef>
              <a:spcAft>
                <a:spcPts val="0"/>
              </a:spcAft>
              <a:buSzPts val="1800"/>
              <a:buChar char="●"/>
            </a:pPr>
            <a:r>
              <a:rPr lang="en-GB"/>
              <a:t>Google Drive links for project files</a:t>
            </a:r>
            <a:endParaRPr/>
          </a:p>
          <a:p>
            <a:pPr indent="-342900" lvl="0" marL="457200" rtl="0" algn="l">
              <a:lnSpc>
                <a:spcPct val="150000"/>
              </a:lnSpc>
              <a:spcBef>
                <a:spcPts val="0"/>
              </a:spcBef>
              <a:spcAft>
                <a:spcPts val="0"/>
              </a:spcAft>
              <a:buSzPts val="1800"/>
              <a:buChar char="●"/>
            </a:pPr>
            <a:r>
              <a:rPr lang="en-GB"/>
              <a:t>Creative archive with shared folder embed</a:t>
            </a:r>
            <a:endParaRPr/>
          </a:p>
          <a:p>
            <a:pPr indent="-342900" lvl="0" marL="457200" rtl="0" algn="l">
              <a:lnSpc>
                <a:spcPct val="150000"/>
              </a:lnSpc>
              <a:spcBef>
                <a:spcPts val="0"/>
              </a:spcBef>
              <a:spcAft>
                <a:spcPts val="0"/>
              </a:spcAft>
              <a:buSzPts val="1800"/>
              <a:buChar char="●"/>
            </a:pPr>
            <a:r>
              <a:rPr lang="en-GB"/>
              <a:t>Public downloads for forms</a:t>
            </a:r>
            <a:endParaRPr/>
          </a:p>
        </p:txBody>
      </p:sp>
      <p:pic>
        <p:nvPicPr>
          <p:cNvPr id="94" name="Google Shape;94;p17"/>
          <p:cNvPicPr preferRelativeResize="0"/>
          <p:nvPr/>
        </p:nvPicPr>
        <p:blipFill>
          <a:blip r:embed="rId3">
            <a:alphaModFix/>
          </a:blip>
          <a:stretch>
            <a:fillRect/>
          </a:stretch>
        </p:blipFill>
        <p:spPr>
          <a:xfrm>
            <a:off x="5909600" y="2255487"/>
            <a:ext cx="2872375" cy="2240425"/>
          </a:xfrm>
          <a:prstGeom prst="rect">
            <a:avLst/>
          </a:prstGeom>
          <a:noFill/>
          <a:ln>
            <a:noFill/>
          </a:ln>
        </p:spPr>
      </p:pic>
      <p:pic>
        <p:nvPicPr>
          <p:cNvPr id="95" name="Google Shape;95;p17"/>
          <p:cNvPicPr preferRelativeResize="0"/>
          <p:nvPr/>
        </p:nvPicPr>
        <p:blipFill>
          <a:blip r:embed="rId4">
            <a:alphaModFix/>
          </a:blip>
          <a:stretch>
            <a:fillRect/>
          </a:stretch>
        </p:blipFill>
        <p:spPr>
          <a:xfrm>
            <a:off x="1566125" y="3603176"/>
            <a:ext cx="3263549" cy="14328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8"/>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Tools I Used</a:t>
            </a:r>
            <a:endParaRPr/>
          </a:p>
        </p:txBody>
      </p:sp>
      <p:sp>
        <p:nvSpPr>
          <p:cNvPr id="101" name="Google Shape;101;p18"/>
          <p:cNvSpPr txBox="1"/>
          <p:nvPr>
            <p:ph idx="1" type="body"/>
          </p:nvPr>
        </p:nvSpPr>
        <p:spPr>
          <a:xfrm>
            <a:off x="471900" y="1919075"/>
            <a:ext cx="8222100" cy="29970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Char char="●"/>
            </a:pPr>
            <a:r>
              <a:rPr lang="en-GB"/>
              <a:t>HTML</a:t>
            </a:r>
            <a:endParaRPr/>
          </a:p>
          <a:p>
            <a:pPr indent="-342900" lvl="0" marL="457200" rtl="0" algn="l">
              <a:lnSpc>
                <a:spcPct val="150000"/>
              </a:lnSpc>
              <a:spcBef>
                <a:spcPts val="0"/>
              </a:spcBef>
              <a:spcAft>
                <a:spcPts val="0"/>
              </a:spcAft>
              <a:buSzPts val="1800"/>
              <a:buChar char="●"/>
            </a:pPr>
            <a:r>
              <a:rPr lang="en-GB"/>
              <a:t>CSS</a:t>
            </a:r>
            <a:endParaRPr/>
          </a:p>
          <a:p>
            <a:pPr indent="-342900" lvl="0" marL="457200" rtl="0" algn="l">
              <a:lnSpc>
                <a:spcPct val="150000"/>
              </a:lnSpc>
              <a:spcBef>
                <a:spcPts val="0"/>
              </a:spcBef>
              <a:spcAft>
                <a:spcPts val="0"/>
              </a:spcAft>
              <a:buSzPts val="1800"/>
              <a:buChar char="●"/>
            </a:pPr>
            <a:r>
              <a:rPr lang="en-GB"/>
              <a:t>JavaScript</a:t>
            </a:r>
            <a:endParaRPr/>
          </a:p>
          <a:p>
            <a:pPr indent="-342900" lvl="0" marL="457200" rtl="0" algn="l">
              <a:lnSpc>
                <a:spcPct val="150000"/>
              </a:lnSpc>
              <a:spcBef>
                <a:spcPts val="0"/>
              </a:spcBef>
              <a:spcAft>
                <a:spcPts val="0"/>
              </a:spcAft>
              <a:buSzPts val="1800"/>
              <a:buChar char="●"/>
            </a:pPr>
            <a:r>
              <a:rPr lang="en-GB"/>
              <a:t>Google Drive</a:t>
            </a:r>
            <a:endParaRPr/>
          </a:p>
          <a:p>
            <a:pPr indent="-342900" lvl="0" marL="457200" rtl="0" algn="l">
              <a:lnSpc>
                <a:spcPct val="150000"/>
              </a:lnSpc>
              <a:spcBef>
                <a:spcPts val="0"/>
              </a:spcBef>
              <a:spcAft>
                <a:spcPts val="0"/>
              </a:spcAft>
              <a:buSzPts val="1800"/>
              <a:buChar char="●"/>
            </a:pPr>
            <a:r>
              <a:rPr lang="en-GB"/>
              <a:t>Google Calendar</a:t>
            </a:r>
            <a:endParaRPr/>
          </a:p>
          <a:p>
            <a:pPr indent="-342900" lvl="0" marL="457200" rtl="0" algn="l">
              <a:lnSpc>
                <a:spcPct val="150000"/>
              </a:lnSpc>
              <a:spcBef>
                <a:spcPts val="0"/>
              </a:spcBef>
              <a:spcAft>
                <a:spcPts val="0"/>
              </a:spcAft>
              <a:buSzPts val="1800"/>
              <a:buChar char="●"/>
            </a:pPr>
            <a:r>
              <a:rPr lang="en-GB"/>
              <a:t>GitHub</a:t>
            </a:r>
            <a:endParaRPr/>
          </a:p>
          <a:p>
            <a:pPr indent="-342900" lvl="0" marL="457200" rtl="0" algn="l">
              <a:lnSpc>
                <a:spcPct val="150000"/>
              </a:lnSpc>
              <a:spcBef>
                <a:spcPts val="0"/>
              </a:spcBef>
              <a:spcAft>
                <a:spcPts val="0"/>
              </a:spcAft>
              <a:buSzPts val="1800"/>
              <a:buChar char="●"/>
            </a:pPr>
            <a:r>
              <a:rPr lang="en-GB"/>
              <a:t>Netlify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9"/>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Design and Layout Choices</a:t>
            </a:r>
            <a:endParaRPr/>
          </a:p>
        </p:txBody>
      </p:sp>
      <p:sp>
        <p:nvSpPr>
          <p:cNvPr id="107" name="Google Shape;107;p19"/>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Char char="●"/>
            </a:pPr>
            <a:r>
              <a:rPr lang="en-GB"/>
              <a:t>Simple navigation bar</a:t>
            </a:r>
            <a:endParaRPr/>
          </a:p>
          <a:p>
            <a:pPr indent="-342900" lvl="0" marL="457200" rtl="0" algn="l">
              <a:lnSpc>
                <a:spcPct val="150000"/>
              </a:lnSpc>
              <a:spcBef>
                <a:spcPts val="0"/>
              </a:spcBef>
              <a:spcAft>
                <a:spcPts val="0"/>
              </a:spcAft>
              <a:buSzPts val="1800"/>
              <a:buChar char="●"/>
            </a:pPr>
            <a:r>
              <a:rPr lang="en-GB"/>
              <a:t>Clear homepage sections</a:t>
            </a:r>
            <a:endParaRPr/>
          </a:p>
          <a:p>
            <a:pPr indent="-342900" lvl="0" marL="457200" rtl="0" algn="l">
              <a:lnSpc>
                <a:spcPct val="150000"/>
              </a:lnSpc>
              <a:spcBef>
                <a:spcPts val="0"/>
              </a:spcBef>
              <a:spcAft>
                <a:spcPts val="0"/>
              </a:spcAft>
              <a:buSzPts val="1800"/>
              <a:buChar char="●"/>
            </a:pPr>
            <a:r>
              <a:rPr lang="en-GB"/>
              <a:t>Soft color palette</a:t>
            </a:r>
            <a:endParaRPr/>
          </a:p>
          <a:p>
            <a:pPr indent="-342900" lvl="0" marL="457200" rtl="0" algn="l">
              <a:lnSpc>
                <a:spcPct val="150000"/>
              </a:lnSpc>
              <a:spcBef>
                <a:spcPts val="0"/>
              </a:spcBef>
              <a:spcAft>
                <a:spcPts val="0"/>
              </a:spcAft>
              <a:buSzPts val="1800"/>
              <a:buChar char="●"/>
            </a:pPr>
            <a:r>
              <a:rPr lang="en-GB"/>
              <a:t>Card-based layout</a:t>
            </a:r>
            <a:endParaRPr/>
          </a:p>
          <a:p>
            <a:pPr indent="-342900" lvl="0" marL="457200" rtl="0" algn="l">
              <a:lnSpc>
                <a:spcPct val="150000"/>
              </a:lnSpc>
              <a:spcBef>
                <a:spcPts val="0"/>
              </a:spcBef>
              <a:spcAft>
                <a:spcPts val="0"/>
              </a:spcAft>
              <a:buSzPts val="1800"/>
              <a:buChar char="●"/>
            </a:pPr>
            <a:r>
              <a:rPr lang="en-GB"/>
              <a:t>Mobile-friendly design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0"/>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Course Work Section</a:t>
            </a:r>
            <a:endParaRPr/>
          </a:p>
        </p:txBody>
      </p:sp>
      <p:sp>
        <p:nvSpPr>
          <p:cNvPr id="113" name="Google Shape;113;p20"/>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Char char="●"/>
            </a:pPr>
            <a:r>
              <a:rPr lang="en-GB"/>
              <a:t>Added direct links to module pages</a:t>
            </a:r>
            <a:endParaRPr/>
          </a:p>
          <a:p>
            <a:pPr indent="-342900" lvl="0" marL="457200" rtl="0" algn="l">
              <a:lnSpc>
                <a:spcPct val="150000"/>
              </a:lnSpc>
              <a:spcBef>
                <a:spcPts val="0"/>
              </a:spcBef>
              <a:spcAft>
                <a:spcPts val="0"/>
              </a:spcAft>
              <a:buSzPts val="1800"/>
              <a:buChar char="●"/>
            </a:pPr>
            <a:r>
              <a:rPr lang="en-GB"/>
              <a:t>Added project page links to the homepage</a:t>
            </a:r>
            <a:endParaRPr/>
          </a:p>
          <a:p>
            <a:pPr indent="-342900" lvl="0" marL="457200" rtl="0" algn="l">
              <a:lnSpc>
                <a:spcPct val="150000"/>
              </a:lnSpc>
              <a:spcBef>
                <a:spcPts val="0"/>
              </a:spcBef>
              <a:spcAft>
                <a:spcPts val="0"/>
              </a:spcAft>
              <a:buSzPts val="1800"/>
              <a:buChar char="●"/>
            </a:pPr>
            <a:r>
              <a:rPr lang="en-GB"/>
              <a:t>Improved navigation</a:t>
            </a:r>
            <a:endParaRPr/>
          </a:p>
          <a:p>
            <a:pPr indent="-342900" lvl="0" marL="457200" rtl="0" algn="l">
              <a:lnSpc>
                <a:spcPct val="150000"/>
              </a:lnSpc>
              <a:spcBef>
                <a:spcPts val="0"/>
              </a:spcBef>
              <a:spcAft>
                <a:spcPts val="0"/>
              </a:spcAft>
              <a:buSzPts val="1800"/>
              <a:buChar char="●"/>
            </a:pPr>
            <a:r>
              <a:rPr lang="en-GB"/>
              <a:t>Reduced dependence on direct URLs</a:t>
            </a:r>
            <a:endParaRPr/>
          </a:p>
        </p:txBody>
      </p:sp>
      <p:pic>
        <p:nvPicPr>
          <p:cNvPr id="114" name="Google Shape;114;p20"/>
          <p:cNvPicPr preferRelativeResize="0"/>
          <p:nvPr/>
        </p:nvPicPr>
        <p:blipFill>
          <a:blip r:embed="rId3">
            <a:alphaModFix/>
          </a:blip>
          <a:stretch>
            <a:fillRect/>
          </a:stretch>
        </p:blipFill>
        <p:spPr>
          <a:xfrm>
            <a:off x="5456175" y="2754650"/>
            <a:ext cx="3462925" cy="21993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1"/>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Challenges and What I Learned</a:t>
            </a:r>
            <a:endParaRPr/>
          </a:p>
        </p:txBody>
      </p:sp>
      <p:sp>
        <p:nvSpPr>
          <p:cNvPr id="120" name="Google Shape;120;p21"/>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Char char="●"/>
            </a:pPr>
            <a:r>
              <a:rPr lang="en-GB"/>
              <a:t>Organizing many sections without clutter</a:t>
            </a:r>
            <a:endParaRPr/>
          </a:p>
          <a:p>
            <a:pPr indent="-342900" lvl="0" marL="457200" rtl="0" algn="l">
              <a:lnSpc>
                <a:spcPct val="150000"/>
              </a:lnSpc>
              <a:spcBef>
                <a:spcPts val="0"/>
              </a:spcBef>
              <a:spcAft>
                <a:spcPts val="0"/>
              </a:spcAft>
              <a:buSzPts val="1800"/>
              <a:buChar char="●"/>
            </a:pPr>
            <a:r>
              <a:rPr lang="en-GB"/>
              <a:t>Making links and embeds work properly</a:t>
            </a:r>
            <a:endParaRPr/>
          </a:p>
          <a:p>
            <a:pPr indent="-342900" lvl="0" marL="457200" rtl="0" algn="l">
              <a:lnSpc>
                <a:spcPct val="150000"/>
              </a:lnSpc>
              <a:spcBef>
                <a:spcPts val="0"/>
              </a:spcBef>
              <a:spcAft>
                <a:spcPts val="0"/>
              </a:spcAft>
              <a:buSzPts val="1800"/>
              <a:buChar char="●"/>
            </a:pPr>
            <a:r>
              <a:rPr lang="en-GB"/>
              <a:t>Improving navigation over time</a:t>
            </a:r>
            <a:endParaRPr/>
          </a:p>
          <a:p>
            <a:pPr indent="-342900" lvl="0" marL="457200" rtl="0" algn="l">
              <a:lnSpc>
                <a:spcPct val="150000"/>
              </a:lnSpc>
              <a:spcBef>
                <a:spcPts val="0"/>
              </a:spcBef>
              <a:spcAft>
                <a:spcPts val="0"/>
              </a:spcAft>
              <a:buSzPts val="1800"/>
              <a:buChar char="●"/>
            </a:pPr>
            <a:r>
              <a:rPr lang="en-GB"/>
              <a:t>Learned more about website structure and usability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2"/>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Conclusion</a:t>
            </a:r>
            <a:endParaRPr/>
          </a:p>
        </p:txBody>
      </p:sp>
      <p:sp>
        <p:nvSpPr>
          <p:cNvPr id="126" name="Google Shape;126;p22"/>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Char char="●"/>
            </a:pPr>
            <a:r>
              <a:rPr lang="en-GB"/>
              <a:t>Created a functional course website</a:t>
            </a:r>
            <a:endParaRPr/>
          </a:p>
          <a:p>
            <a:pPr indent="-342900" lvl="0" marL="457200" rtl="0" algn="l">
              <a:lnSpc>
                <a:spcPct val="150000"/>
              </a:lnSpc>
              <a:spcBef>
                <a:spcPts val="0"/>
              </a:spcBef>
              <a:spcAft>
                <a:spcPts val="0"/>
              </a:spcAft>
              <a:buSzPts val="1800"/>
              <a:buChar char="●"/>
            </a:pPr>
            <a:r>
              <a:rPr lang="en-GB"/>
              <a:t>Organized assignments, projects, and resources</a:t>
            </a:r>
            <a:endParaRPr/>
          </a:p>
          <a:p>
            <a:pPr indent="-342900" lvl="0" marL="457200" rtl="0" algn="l">
              <a:lnSpc>
                <a:spcPct val="150000"/>
              </a:lnSpc>
              <a:spcBef>
                <a:spcPts val="0"/>
              </a:spcBef>
              <a:spcAft>
                <a:spcPts val="0"/>
              </a:spcAft>
              <a:buSzPts val="1800"/>
              <a:buChar char="●"/>
            </a:pPr>
            <a:r>
              <a:rPr lang="en-GB"/>
              <a:t>Improved the site over time</a:t>
            </a:r>
            <a:endParaRPr/>
          </a:p>
          <a:p>
            <a:pPr indent="-342900" lvl="0" marL="457200" rtl="0" algn="l">
              <a:lnSpc>
                <a:spcPct val="150000"/>
              </a:lnSpc>
              <a:spcBef>
                <a:spcPts val="0"/>
              </a:spcBef>
              <a:spcAft>
                <a:spcPts val="0"/>
              </a:spcAft>
              <a:buSzPts val="1800"/>
              <a:buChar char="●"/>
            </a:pPr>
            <a:r>
              <a:rPr lang="en-GB"/>
              <a:t>Built a strong base for future updates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